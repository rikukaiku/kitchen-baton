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1D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B1D12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-2011680"/>
            <a:ext cx="5486400" cy="5486400"/>
          </a:xfrm>
          <a:prstGeom prst="ellipse">
            <a:avLst/>
          </a:prstGeom>
          <a:solidFill>
            <a:srgbClr val="3A2717"/>
          </a:solidFill>
          <a:ln/>
        </p:spPr>
      </p:sp>
      <p:sp>
        <p:nvSpPr>
          <p:cNvPr id="4" name="Shape 2"/>
          <p:cNvSpPr/>
          <p:nvPr/>
        </p:nvSpPr>
        <p:spPr>
          <a:xfrm>
            <a:off x="-2286000" y="4572000"/>
            <a:ext cx="4572000" cy="4572000"/>
          </a:xfrm>
          <a:prstGeom prst="ellipse">
            <a:avLst/>
          </a:prstGeom>
          <a:solidFill>
            <a:srgbClr val="3A2717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214884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DD8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KITCHEN BATON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77240" y="2606040"/>
            <a:ext cx="10515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想いと場所を、データでつなぐ。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822960" y="379476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D9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子ども食堂を始めたい人と、使われていない場所を貸したい人をつなぐ地図マッチングアプリ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59893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99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都知事杯オープンデータ・ハッカソン2026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0"/>
            <a:ext cx="10725912" cy="6858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6800"/>
              </a:lnSpc>
              <a:buNone/>
            </a:pPr>
            <a:r>
              <a:rPr lang="en-US" sz="5600" b="1" dirty="0">
                <a:solidFill>
                  <a:srgbClr val="2B22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こども食堂は、</a:t>
            </a:r>
            <a:endParaRPr lang="en-US" sz="5600" dirty="0"/>
          </a:p>
          <a:p>
            <a:pPr algn="ctr" indent="0" marL="0">
              <a:lnSpc>
                <a:spcPts val="6800"/>
              </a:lnSpc>
              <a:buNone/>
            </a:pPr>
            <a:r>
              <a:rPr lang="en-US" sz="5600" b="1" dirty="0">
                <a:solidFill>
                  <a:srgbClr val="2B22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もはや「社会インフラ」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15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22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「やりたい」と「貸したい」の間に横たわる、情報の非対称性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5349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15A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活動希望者（主催者）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035040" y="1417320"/>
            <a:ext cx="5349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8F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場所提供者（オーナー）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2606040" cy="1417320"/>
          </a:xfrm>
          <a:prstGeom prst="roundRect">
            <a:avLst>
              <a:gd name="adj" fmla="val 6452"/>
            </a:avLst>
          </a:prstGeom>
          <a:solidFill>
            <a:srgbClr val="FBE6D3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96596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15A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場所がない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85800" y="2423160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5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（公民館・空き家などを探せない）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91840" y="1828800"/>
            <a:ext cx="2606040" cy="1417320"/>
          </a:xfrm>
          <a:prstGeom prst="roundRect">
            <a:avLst>
              <a:gd name="adj" fmla="val 6452"/>
            </a:avLst>
          </a:prstGeom>
          <a:solidFill>
            <a:srgbClr val="FBE6D3"/>
          </a:solidFill>
          <a:ln/>
        </p:spPr>
      </p:sp>
      <p:sp>
        <p:nvSpPr>
          <p:cNvPr id="10" name="Text 8"/>
          <p:cNvSpPr/>
          <p:nvPr/>
        </p:nvSpPr>
        <p:spPr>
          <a:xfrm>
            <a:off x="3429000" y="196596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15A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どこに必要？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429000" y="2423160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5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（地域のニーズが見えない）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035040" y="1828800"/>
            <a:ext cx="2606040" cy="1417320"/>
          </a:xfrm>
          <a:prstGeom prst="roundRect">
            <a:avLst>
              <a:gd name="adj" fmla="val 6452"/>
            </a:avLst>
          </a:prstGeom>
          <a:solidFill>
            <a:srgbClr val="FBE6D3"/>
          </a:solidFill>
          <a:ln/>
        </p:spPr>
      </p:sp>
      <p:sp>
        <p:nvSpPr>
          <p:cNvPr id="13" name="Text 11"/>
          <p:cNvSpPr/>
          <p:nvPr/>
        </p:nvSpPr>
        <p:spPr>
          <a:xfrm>
            <a:off x="6172200" y="196596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8F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つながれない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172200" y="2423160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5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（誰に声をかける？）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778240" y="1828800"/>
            <a:ext cx="2606040" cy="1417320"/>
          </a:xfrm>
          <a:prstGeom prst="roundRect">
            <a:avLst>
              <a:gd name="adj" fmla="val 6452"/>
            </a:avLst>
          </a:prstGeom>
          <a:solidFill>
            <a:srgbClr val="FBE6D3"/>
          </a:solidFill>
          <a:ln/>
        </p:spPr>
      </p:sp>
      <p:sp>
        <p:nvSpPr>
          <p:cNvPr id="16" name="Text 14"/>
          <p:cNvSpPr/>
          <p:nvPr/>
        </p:nvSpPr>
        <p:spPr>
          <a:xfrm>
            <a:off x="8915400" y="196596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8F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資産の放置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915400" y="2423160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5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（空いている場所が眠る）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1417320" y="3611880"/>
            <a:ext cx="822960" cy="822960"/>
          </a:xfrm>
          <a:prstGeom prst="ellipse">
            <a:avLst/>
          </a:prstGeom>
          <a:solidFill>
            <a:srgbClr val="C15A2C"/>
          </a:solidFill>
          <a:ln/>
        </p:spPr>
      </p:sp>
      <p:sp>
        <p:nvSpPr>
          <p:cNvPr id="19" name="Text 17"/>
          <p:cNvSpPr/>
          <p:nvPr/>
        </p:nvSpPr>
        <p:spPr>
          <a:xfrm>
            <a:off x="1417320" y="3611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👤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685800" y="448056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B2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こども食堂を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B2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始めたい人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480560" y="365760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22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情報の接続不全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394960" y="3977640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⚡</a:t>
            </a:r>
            <a:endParaRPr lang="en-US" sz="2600" dirty="0"/>
          </a:p>
        </p:txBody>
      </p:sp>
      <p:sp>
        <p:nvSpPr>
          <p:cNvPr id="23" name="Shape 21"/>
          <p:cNvSpPr/>
          <p:nvPr/>
        </p:nvSpPr>
        <p:spPr>
          <a:xfrm>
            <a:off x="9966960" y="3611880"/>
            <a:ext cx="822960" cy="822960"/>
          </a:xfrm>
          <a:prstGeom prst="ellipse">
            <a:avLst/>
          </a:prstGeom>
          <a:solidFill>
            <a:srgbClr val="6B8F71"/>
          </a:solidFill>
          <a:ln/>
        </p:spPr>
      </p:sp>
      <p:sp>
        <p:nvSpPr>
          <p:cNvPr id="24" name="Text 22"/>
          <p:cNvSpPr/>
          <p:nvPr/>
        </p:nvSpPr>
        <p:spPr>
          <a:xfrm>
            <a:off x="9966960" y="3611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🏠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9052560" y="448056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B2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社員食堂・空き家・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B2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公民館・飲食店など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48640" y="5257800"/>
            <a:ext cx="11109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5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「必要な場所」と「使える場所」が同じ地域にあっても、つながっていない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48640" y="5760720"/>
            <a:ext cx="11109960" cy="777240"/>
          </a:xfrm>
          <a:prstGeom prst="roundRect">
            <a:avLst>
              <a:gd name="adj" fmla="val 11765"/>
            </a:avLst>
          </a:prstGeom>
          <a:solidFill>
            <a:srgbClr val="2B1D12"/>
          </a:solidFill>
          <a:ln/>
        </p:spPr>
      </p:sp>
      <p:sp>
        <p:nvSpPr>
          <p:cNvPr id="28" name="Text 26"/>
          <p:cNvSpPr/>
          <p:nvPr/>
        </p:nvSpPr>
        <p:spPr>
          <a:xfrm>
            <a:off x="822960" y="5760720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さらに、地域によって「支援の空白地帯」が存在する。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15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B22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Kitchen Baton：見えない資産を可視化するマッチング地図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5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既存のキッチン資源を、次の世代（こどもたち）へバトンのように引き継ぐ。「活動希望者」と「場所提供者」を、位置情報と設備条件でつなぐ。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468880"/>
            <a:ext cx="3429000" cy="3108960"/>
          </a:xfrm>
          <a:prstGeom prst="roundRect">
            <a:avLst>
              <a:gd name="adj" fmla="val 3529"/>
            </a:avLst>
          </a:prstGeom>
          <a:solidFill>
            <a:srgbClr val="FFF8EE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2788920"/>
            <a:ext cx="640080" cy="640080"/>
          </a:xfrm>
          <a:prstGeom prst="ellipse">
            <a:avLst/>
          </a:prstGeom>
          <a:solidFill>
            <a:srgbClr val="C15A2C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2788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68680" y="356616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B22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Search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868680" y="4069080"/>
            <a:ext cx="28346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5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地図上で場所の種類・設備を条件に、視覚的に探す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005072" y="356616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CCBB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</a:t>
            </a:r>
            <a:endParaRPr lang="en-US" sz="2600" dirty="0"/>
          </a:p>
        </p:txBody>
      </p:sp>
      <p:sp>
        <p:nvSpPr>
          <p:cNvPr id="11" name="Shape 9"/>
          <p:cNvSpPr/>
          <p:nvPr/>
        </p:nvSpPr>
        <p:spPr>
          <a:xfrm>
            <a:off x="4297680" y="2468880"/>
            <a:ext cx="3429000" cy="3108960"/>
          </a:xfrm>
          <a:prstGeom prst="roundRect">
            <a:avLst>
              <a:gd name="adj" fmla="val 3529"/>
            </a:avLst>
          </a:prstGeom>
          <a:solidFill>
            <a:srgbClr val="FFF8EE"/>
          </a:solidFill>
          <a:ln/>
        </p:spPr>
      </p:sp>
      <p:sp>
        <p:nvSpPr>
          <p:cNvPr id="12" name="Shape 10"/>
          <p:cNvSpPr/>
          <p:nvPr/>
        </p:nvSpPr>
        <p:spPr>
          <a:xfrm>
            <a:off x="4617720" y="2788920"/>
            <a:ext cx="640080" cy="640080"/>
          </a:xfrm>
          <a:prstGeom prst="ellipse">
            <a:avLst/>
          </a:prstGeom>
          <a:solidFill>
            <a:srgbClr val="6B8F71"/>
          </a:solidFill>
          <a:ln/>
        </p:spPr>
      </p:sp>
      <p:sp>
        <p:nvSpPr>
          <p:cNvPr id="13" name="Text 11"/>
          <p:cNvSpPr/>
          <p:nvPr/>
        </p:nvSpPr>
        <p:spPr>
          <a:xfrm>
            <a:off x="4617720" y="2788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617720" y="356616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B22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Connect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4617720" y="4069080"/>
            <a:ext cx="28346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5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空白地域分析で「本当に必要な地域」を発見する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754112" y="356616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CCBB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</a:t>
            </a:r>
            <a:endParaRPr lang="en-US" sz="2600" dirty="0"/>
          </a:p>
        </p:txBody>
      </p:sp>
      <p:sp>
        <p:nvSpPr>
          <p:cNvPr id="17" name="Shape 15"/>
          <p:cNvSpPr/>
          <p:nvPr/>
        </p:nvSpPr>
        <p:spPr>
          <a:xfrm>
            <a:off x="8046720" y="2468880"/>
            <a:ext cx="3429000" cy="3108960"/>
          </a:xfrm>
          <a:prstGeom prst="roundRect">
            <a:avLst>
              <a:gd name="adj" fmla="val 3529"/>
            </a:avLst>
          </a:prstGeom>
          <a:solidFill>
            <a:srgbClr val="FFF8EE"/>
          </a:solidFill>
          <a:ln/>
        </p:spPr>
      </p:sp>
      <p:sp>
        <p:nvSpPr>
          <p:cNvPr id="18" name="Shape 16"/>
          <p:cNvSpPr/>
          <p:nvPr/>
        </p:nvSpPr>
        <p:spPr>
          <a:xfrm>
            <a:off x="8366760" y="2788920"/>
            <a:ext cx="640080" cy="640080"/>
          </a:xfrm>
          <a:prstGeom prst="ellipse">
            <a:avLst/>
          </a:prstGeom>
          <a:solidFill>
            <a:srgbClr val="4F8FA8"/>
          </a:solidFill>
          <a:ln/>
        </p:spPr>
      </p:sp>
      <p:sp>
        <p:nvSpPr>
          <p:cNvPr id="19" name="Text 17"/>
          <p:cNvSpPr/>
          <p:nvPr/>
        </p:nvSpPr>
        <p:spPr>
          <a:xfrm>
            <a:off x="8366760" y="2788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8366760" y="356616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B22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Start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8366760" y="4069080"/>
            <a:ext cx="28346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5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Googleフォームから登録・相談ひろばで質問し、すぐ活動を始める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15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01 — 実装済み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B22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空白地域分析：食堂が足りない地域を自動で可視化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502920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5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区市町村ごとの0〜14歳人口と、本アプリが収集したオープンデータ上のこども食堂数を掛け合わせ、相対的な不足度を算出。特に不足度が高いと判定された地域が東京都だけで25件あった（新宿区・墨田区など人口の多い区も含む）。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2880360"/>
            <a:ext cx="50292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A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※本アプリが集約したオープンデータの範囲内での分析であり、掲載外の施設は反映されていない可能性があります。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A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出典：東京都オープンデータカタログ／東京都「区市町村・年齢3区分別人口」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3840480"/>
            <a:ext cx="5029200" cy="1280160"/>
          </a:xfrm>
          <a:prstGeom prst="roundRect">
            <a:avLst>
              <a:gd name="adj" fmla="val 7143"/>
            </a:avLst>
          </a:prstGeom>
          <a:solidFill>
            <a:srgbClr val="FBE6D3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3840480"/>
            <a:ext cx="914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000000"/>
                </a:solidFill>
              </a:rPr>
              <a:t>⚠️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737360" y="397764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15A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25件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3429000" y="3840480"/>
            <a:ext cx="2057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不足度が特に高いと判定された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B2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区市町村（東京都）</a:t>
            </a:r>
            <a:endParaRPr lang="en-US" sz="1250" dirty="0"/>
          </a:p>
        </p:txBody>
      </p:sp>
      <p:pic>
        <p:nvPicPr>
          <p:cNvPr id="10" name="Image 0" descr="/Users/tomoaki/Documents/projects/kitchen-baton-claude-work/docs/slides-assets/shot-g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417320"/>
            <a:ext cx="5623560" cy="3611880"/>
          </a:xfrm>
          <a:prstGeom prst="rect">
            <a:avLst/>
          </a:prstGeom>
          <a:effectLst>
            <a:outerShdw sx="100000" sy="100000" kx="0" ky="0" algn="bl" rotWithShape="0" blurRad="127000" dist="50800" dir="5400000">
              <a:srgbClr val="000000">
                <a:alpha val="18000"/>
              </a:srgbClr>
            </a:outerShdw>
          </a:effectLst>
        </p:spPr>
      </p:pic>
      <p:sp>
        <p:nvSpPr>
          <p:cNvPr id="11" name="Text 8"/>
          <p:cNvSpPr/>
          <p:nvPr/>
        </p:nvSpPr>
        <p:spPr>
          <a:xfrm>
            <a:off x="6035040" y="5120640"/>
            <a:ext cx="56235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A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地図タイル出典：© OpenStreetMap contributors（ODbL）https://www.openstreetmap.org/copyright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15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02 — 実装済み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B22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地図検索：都道府県・種類・設備で絞り込み</a:t>
            </a:r>
            <a:endParaRPr lang="en-US" sz="3200" dirty="0"/>
          </a:p>
        </p:txBody>
      </p:sp>
      <p:pic>
        <p:nvPicPr>
          <p:cNvPr id="4" name="Image 0" descr="/Users/tomoaki/Documents/projects/kitchen-baton-claude-work/docs/slides-assets/shot-map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6675120" cy="4297680"/>
          </a:xfrm>
          <a:prstGeom prst="rect">
            <a:avLst/>
          </a:prstGeom>
          <a:effectLst>
            <a:outerShdw sx="100000" sy="100000" kx="0" ky="0" algn="bl" rotWithShape="0" blurRad="127000" dist="50800" dir="5400000">
              <a:srgbClr val="000000">
                <a:alpha val="18000"/>
              </a:srgbClr>
            </a:outerShdw>
          </a:effectLst>
        </p:spPr>
      </p:pic>
      <p:sp>
        <p:nvSpPr>
          <p:cNvPr id="5" name="Shape 2"/>
          <p:cNvSpPr/>
          <p:nvPr/>
        </p:nvSpPr>
        <p:spPr>
          <a:xfrm>
            <a:off x="7498080" y="1581912"/>
            <a:ext cx="411480" cy="411480"/>
          </a:xfrm>
          <a:prstGeom prst="ellipse">
            <a:avLst/>
          </a:prstGeom>
          <a:solidFill>
            <a:srgbClr val="FBE6D3"/>
          </a:solidFill>
          <a:ln/>
        </p:spPr>
      </p:sp>
      <p:sp>
        <p:nvSpPr>
          <p:cNvPr id="6" name="Text 3"/>
          <p:cNvSpPr/>
          <p:nvPr/>
        </p:nvSpPr>
        <p:spPr>
          <a:xfrm>
            <a:off x="7498080" y="158191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🗺️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8046720" y="1554480"/>
            <a:ext cx="3703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B22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約1,425件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8046720" y="1920240"/>
            <a:ext cx="3703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5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東京都の子ども食堂798件＋公民館等627件（本アプリが今回取り込んだオープンデータの件数）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7498080" y="2633472"/>
            <a:ext cx="411480" cy="411480"/>
          </a:xfrm>
          <a:prstGeom prst="ellipse">
            <a:avLst/>
          </a:prstGeom>
          <a:solidFill>
            <a:srgbClr val="FBE6D3"/>
          </a:solidFill>
          <a:ln/>
        </p:spPr>
      </p:sp>
      <p:sp>
        <p:nvSpPr>
          <p:cNvPr id="10" name="Text 7"/>
          <p:cNvSpPr/>
          <p:nvPr/>
        </p:nvSpPr>
        <p:spPr>
          <a:xfrm>
            <a:off x="7498080" y="263347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🎨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8046720" y="2606040"/>
            <a:ext cx="3703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B22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種類ごとに色分け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8046720" y="2971800"/>
            <a:ext cx="3703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5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子ども食堂・公民館・フードパントリー等をピン色で判別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7498080" y="3685032"/>
            <a:ext cx="411480" cy="411480"/>
          </a:xfrm>
          <a:prstGeom prst="ellipse">
            <a:avLst/>
          </a:prstGeom>
          <a:solidFill>
            <a:srgbClr val="FBE6D3"/>
          </a:solidFill>
          <a:ln/>
        </p:spPr>
      </p:sp>
      <p:sp>
        <p:nvSpPr>
          <p:cNvPr id="14" name="Text 11"/>
          <p:cNvSpPr/>
          <p:nvPr/>
        </p:nvSpPr>
        <p:spPr>
          <a:xfrm>
            <a:off x="7498080" y="36850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🔍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046720" y="3657600"/>
            <a:ext cx="3703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B22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クラスタリング表示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8046720" y="4023360"/>
            <a:ext cx="3703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5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密集地域は件数バブルに集約、ズームで個別ピンに分解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7498080" y="4736592"/>
            <a:ext cx="411480" cy="411480"/>
          </a:xfrm>
          <a:prstGeom prst="ellipse">
            <a:avLst/>
          </a:prstGeom>
          <a:solidFill>
            <a:srgbClr val="FBE6D3"/>
          </a:solidFill>
          <a:ln/>
        </p:spPr>
      </p:sp>
      <p:sp>
        <p:nvSpPr>
          <p:cNvPr id="18" name="Text 15"/>
          <p:cNvSpPr/>
          <p:nvPr/>
        </p:nvSpPr>
        <p:spPr>
          <a:xfrm>
            <a:off x="7498080" y="47365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📋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8046720" y="4709160"/>
            <a:ext cx="3703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B22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市区町村を自動抽出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8046720" y="5074920"/>
            <a:ext cx="3703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5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実データから選択肢を生成、五十音順に整理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548640" y="5897880"/>
            <a:ext cx="66751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AA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施設データ出典：東京都オープンデータカタログ／東京都福祉局／各区市町村公共施設一覧（詳細はdata/SOURCES.md）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AA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地図タイル出典：© OpenStreetMap contributors（ODbL）https://www.openstreetmap.org/copyright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15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03 — 実装済み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B22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場所の登録・相談ひろば：市民からの情報も蓄積</a:t>
            </a:r>
            <a:endParaRPr lang="en-US" sz="3200" dirty="0"/>
          </a:p>
        </p:txBody>
      </p:sp>
      <p:pic>
        <p:nvPicPr>
          <p:cNvPr id="4" name="Image 0" descr="/Users/tomoaki/Documents/projects/kitchen-baton-claude-work/docs/slides-assets/shot-consult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6675120" cy="4297680"/>
          </a:xfrm>
          <a:prstGeom prst="rect">
            <a:avLst/>
          </a:prstGeom>
          <a:effectLst>
            <a:outerShdw sx="100000" sy="100000" kx="0" ky="0" algn="bl" rotWithShape="0" blurRad="127000" dist="50800" dir="5400000">
              <a:srgbClr val="000000">
                <a:alpha val="18000"/>
              </a:srgbClr>
            </a:outerShdw>
          </a:effectLst>
        </p:spPr>
      </p:pic>
      <p:sp>
        <p:nvSpPr>
          <p:cNvPr id="5" name="Text 2"/>
          <p:cNvSpPr/>
          <p:nvPr/>
        </p:nvSpPr>
        <p:spPr>
          <a:xfrm>
            <a:off x="548640" y="5806440"/>
            <a:ext cx="66751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A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地図タイル出典：© OpenStreetMap contributors（ODbL）https://www.openstreetmap.org/copyright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7498080" y="1581912"/>
            <a:ext cx="411480" cy="411480"/>
          </a:xfrm>
          <a:prstGeom prst="ellipse">
            <a:avLst/>
          </a:prstGeom>
          <a:solidFill>
            <a:srgbClr val="E4EBE2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0" y="158191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📝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046720" y="1554480"/>
            <a:ext cx="3703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B22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 場所を登録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8046720" y="1920240"/>
            <a:ext cx="3703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5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Googleフォームへ直接遷移。個人情報の保存・管理は行政データと分離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7498080" y="2633472"/>
            <a:ext cx="411480" cy="411480"/>
          </a:xfrm>
          <a:prstGeom prst="ellipse">
            <a:avLst/>
          </a:prstGeom>
          <a:solidFill>
            <a:srgbClr val="E4EBE2"/>
          </a:solidFill>
          <a:ln/>
        </p:spPr>
      </p:sp>
      <p:sp>
        <p:nvSpPr>
          <p:cNvPr id="11" name="Text 8"/>
          <p:cNvSpPr/>
          <p:nvPr/>
        </p:nvSpPr>
        <p:spPr>
          <a:xfrm>
            <a:off x="7498080" y="263347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💬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8046720" y="2606040"/>
            <a:ext cx="3703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B22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相談ひろば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8046720" y="2971800"/>
            <a:ext cx="3703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5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資金・場所・衛生許可・ボランティア集め・運営継続などカテゴリ別に質問投稿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7498080" y="3685032"/>
            <a:ext cx="411480" cy="411480"/>
          </a:xfrm>
          <a:prstGeom prst="ellipse">
            <a:avLst/>
          </a:prstGeom>
          <a:solidFill>
            <a:srgbClr val="E4EBE2"/>
          </a:solidFill>
          <a:ln/>
        </p:spPr>
      </p:sp>
      <p:sp>
        <p:nvSpPr>
          <p:cNvPr id="15" name="Text 12"/>
          <p:cNvSpPr/>
          <p:nvPr/>
        </p:nvSpPr>
        <p:spPr>
          <a:xfrm>
            <a:off x="7498080" y="36850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❓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8046720" y="3657600"/>
            <a:ext cx="3703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B22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FAQ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8046720" y="4023360"/>
            <a:ext cx="3703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5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よくある悩み（場所探し・ボランティア集め・運営継続）に事前回答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7498080" y="4736592"/>
            <a:ext cx="411480" cy="411480"/>
          </a:xfrm>
          <a:prstGeom prst="ellipse">
            <a:avLst/>
          </a:prstGeom>
          <a:solidFill>
            <a:srgbClr val="E4EBE2"/>
          </a:solidFill>
          <a:ln/>
        </p:spPr>
      </p:sp>
      <p:sp>
        <p:nvSpPr>
          <p:cNvPr id="19" name="Text 16"/>
          <p:cNvSpPr/>
          <p:nvPr/>
        </p:nvSpPr>
        <p:spPr>
          <a:xfrm>
            <a:off x="7498080" y="47365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👍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8046720" y="4709160"/>
            <a:ext cx="3703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B22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役に立った機能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046720" y="5074920"/>
            <a:ext cx="3703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5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回答への評価を端末に記憶し、有用な回答が見つけやすい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15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DATA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B22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使用しているオープンデータ（すべてCC BY 4.0）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2176272"/>
            <a:ext cx="7680960" cy="9144"/>
          </a:xfrm>
          <a:prstGeom prst="rect">
            <a:avLst/>
          </a:prstGeom>
          <a:solidFill>
            <a:srgbClr val="EEE3D6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463040"/>
            <a:ext cx="4572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🏙️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51560" y="1463040"/>
            <a:ext cx="26060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B2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東京都オープンデータカタログ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749040" y="1490472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5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区市町村ごとの子ども食堂一覧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749040" y="1847088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A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catalog.data.metro.tokyo.lg.jp（区市町村別に多数、詳細はdata/SOURCES.md）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2944368"/>
            <a:ext cx="7680960" cy="9144"/>
          </a:xfrm>
          <a:prstGeom prst="rect">
            <a:avLst/>
          </a:prstGeom>
          <a:solidFill>
            <a:srgbClr val="EEE3D6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231136"/>
            <a:ext cx="4572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🍚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2231136"/>
            <a:ext cx="26060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B2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東京都福祉局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749040" y="2258568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5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「子供食堂推進事業」実績データ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749040" y="2615184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A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opendata.metro.tokyo.lg.jp/fukushi/R4jisseki.xlsx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48640" y="3712464"/>
            <a:ext cx="7680960" cy="9144"/>
          </a:xfrm>
          <a:prstGeom prst="rect">
            <a:avLst/>
          </a:prstGeom>
          <a:solidFill>
            <a:srgbClr val="EEE3D6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2999232"/>
            <a:ext cx="4572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🏛️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051560" y="2999232"/>
            <a:ext cx="26060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B2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各区市町村 公共施設一覧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749040" y="3026664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5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公民館・区民センター等を抽出（627件）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749040" y="3383280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A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自治体ごとに個別URL、詳細はdata/SOURCES.md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48640" y="4480560"/>
            <a:ext cx="7680960" cy="9144"/>
          </a:xfrm>
          <a:prstGeom prst="rect">
            <a:avLst/>
          </a:prstGeom>
          <a:solidFill>
            <a:srgbClr val="EEE3D6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3767328"/>
            <a:ext cx="4572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🎓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051560" y="3767328"/>
            <a:ext cx="26060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B2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東京都教育庁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749040" y="37947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5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「施設関連情報_公民館」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749040" y="4151376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A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opendata.metro.tokyo.lg.jp/kyouiku/R3/skshubetu_1.csv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48640" y="5248656"/>
            <a:ext cx="7680960" cy="9144"/>
          </a:xfrm>
          <a:prstGeom prst="rect">
            <a:avLst/>
          </a:prstGeom>
          <a:solidFill>
            <a:srgbClr val="EEE3D6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4535424"/>
            <a:ext cx="4572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🛰️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051560" y="4535424"/>
            <a:ext cx="26060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B2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国土地理院 住所検索API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3749040" y="4562856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5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住所→緯度経度のジオコーディングに使用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749040" y="4919472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A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msearch.gsi.go.jp/address-search/AddressSearch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8503920" y="1554480"/>
            <a:ext cx="3154680" cy="3154680"/>
          </a:xfrm>
          <a:prstGeom prst="roundRect">
            <a:avLst>
              <a:gd name="adj" fmla="val 3478"/>
            </a:avLst>
          </a:prstGeom>
          <a:solidFill>
            <a:srgbClr val="FBE6D3"/>
          </a:solidFill>
          <a:ln/>
        </p:spPr>
      </p:sp>
      <p:sp>
        <p:nvSpPr>
          <p:cNvPr id="30" name="Text 28"/>
          <p:cNvSpPr/>
          <p:nvPr/>
        </p:nvSpPr>
        <p:spPr>
          <a:xfrm>
            <a:off x="8778240" y="178308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15A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プライバシーへの配慮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8778240" y="2286000"/>
            <a:ext cx="265176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B2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電話番号・メールアドレス等の個人連絡先情報は、公開する地図データからすべて除外。出典・ライセンス一覧は data/SOURCES.md にリポジトリ内公開。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15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B22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技術構成：静的サイト＋自動化データパイプライン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474720" cy="402336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EEE3D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554480"/>
            <a:ext cx="3474720" cy="91440"/>
          </a:xfrm>
          <a:prstGeom prst="rect">
            <a:avLst/>
          </a:prstGeom>
          <a:solidFill>
            <a:srgbClr val="C15A2C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1828800"/>
            <a:ext cx="502920" cy="502920"/>
          </a:xfrm>
          <a:prstGeom prst="ellipse">
            <a:avLst/>
          </a:prstGeom>
          <a:solidFill>
            <a:srgbClr val="FFF8EE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💻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44752" y="182880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B22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フロントエンド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822960" y="2377440"/>
            <a:ext cx="29260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6B5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TypeScript + Vite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22960" y="3337560"/>
            <a:ext cx="29260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6B5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地図表示：Leaflet（react-leaflet）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22960" y="4297680"/>
            <a:ext cx="29260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6B5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ホスティング：Vercel（main連動で自動デプロイ）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297680" y="1554480"/>
            <a:ext cx="3474720" cy="402336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EEE3D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297680" y="1554480"/>
            <a:ext cx="3474720" cy="91440"/>
          </a:xfrm>
          <a:prstGeom prst="rect">
            <a:avLst/>
          </a:prstGeom>
          <a:solidFill>
            <a:srgbClr val="6B8F71"/>
          </a:solidFill>
          <a:ln/>
        </p:spPr>
      </p:sp>
      <p:sp>
        <p:nvSpPr>
          <p:cNvPr id="14" name="Shape 12"/>
          <p:cNvSpPr/>
          <p:nvPr/>
        </p:nvSpPr>
        <p:spPr>
          <a:xfrm>
            <a:off x="4572000" y="1828800"/>
            <a:ext cx="502920" cy="502920"/>
          </a:xfrm>
          <a:prstGeom prst="ellipse">
            <a:avLst/>
          </a:prstGeom>
          <a:solidFill>
            <a:srgbClr val="FFF8EE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🔄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5193792" y="182880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B22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データパイプライン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4572000" y="2377440"/>
            <a:ext cx="29260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6B5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Pythonスクリプトで収集・ジオコーディング・重複除去を自動化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4572000" y="3337560"/>
            <a:ext cx="29260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6B5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手順は再利用可能な「スキル」としてリポジトリに整備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046720" y="1554480"/>
            <a:ext cx="3474720" cy="402336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EEE3D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046720" y="1554480"/>
            <a:ext cx="3474720" cy="91440"/>
          </a:xfrm>
          <a:prstGeom prst="rect">
            <a:avLst/>
          </a:prstGeom>
          <a:solidFill>
            <a:srgbClr val="4F8FA8"/>
          </a:solidFill>
          <a:ln/>
        </p:spPr>
      </p:sp>
      <p:sp>
        <p:nvSpPr>
          <p:cNvPr id="21" name="Shape 19"/>
          <p:cNvSpPr/>
          <p:nvPr/>
        </p:nvSpPr>
        <p:spPr>
          <a:xfrm>
            <a:off x="8321040" y="1828800"/>
            <a:ext cx="502920" cy="502920"/>
          </a:xfrm>
          <a:prstGeom prst="ellipse">
            <a:avLst/>
          </a:prstGeom>
          <a:solidFill>
            <a:srgbClr val="FFF8EE"/>
          </a:solidFill>
          <a:ln/>
        </p:spPr>
      </p:sp>
      <p:sp>
        <p:nvSpPr>
          <p:cNvPr id="22" name="Text 20"/>
          <p:cNvSpPr/>
          <p:nvPr/>
        </p:nvSpPr>
        <p:spPr>
          <a:xfrm>
            <a:off x="832104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🤖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8942832" y="182880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B22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生成AIの活用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8321040" y="2377440"/>
            <a:ext cx="29260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6B5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Codeを開発全体で活用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8321040" y="3337560"/>
            <a:ext cx="29260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6B5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データ収集・地図UI実装・バグ修正まで一貫して支援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548640" y="580644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982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※現時点ではバックエンド・DBを持たない静的構成。登録データはGoogleフォーム経由でスプレッドシートに記録。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15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— 想定シーン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B22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多様な「場所」が、こどもの居場所に変わる瞬間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429000" cy="3931920"/>
          </a:xfrm>
          <a:prstGeom prst="roundRect">
            <a:avLst>
              <a:gd name="adj" fmla="val 3200"/>
            </a:avLst>
          </a:prstGeom>
          <a:solidFill>
            <a:srgbClr val="FFF8EE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1874520"/>
            <a:ext cx="1051560" cy="365760"/>
          </a:xfrm>
          <a:prstGeom prst="roundRect">
            <a:avLst>
              <a:gd name="adj" fmla="val 50000"/>
            </a:avLst>
          </a:prstGeom>
          <a:solidFill>
            <a:srgbClr val="6B8F71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874520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2377440"/>
            <a:ext cx="2880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22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公共施設の再発見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22960" y="3108960"/>
            <a:ext cx="288036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5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市民グループが、公民館の空き情報をアプリで見つけ、月1回の活動を実現。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297680" y="1600200"/>
            <a:ext cx="3429000" cy="3931920"/>
          </a:xfrm>
          <a:prstGeom prst="roundRect">
            <a:avLst>
              <a:gd name="adj" fmla="val 3200"/>
            </a:avLst>
          </a:prstGeom>
          <a:solidFill>
            <a:srgbClr val="FFF8EE"/>
          </a:solidFill>
          <a:ln/>
        </p:spPr>
      </p:sp>
      <p:sp>
        <p:nvSpPr>
          <p:cNvPr id="10" name="Shape 8"/>
          <p:cNvSpPr/>
          <p:nvPr/>
        </p:nvSpPr>
        <p:spPr>
          <a:xfrm>
            <a:off x="4572000" y="1874520"/>
            <a:ext cx="1051560" cy="365760"/>
          </a:xfrm>
          <a:prstGeom prst="roundRect">
            <a:avLst>
              <a:gd name="adj" fmla="val 50000"/>
            </a:avLst>
          </a:prstGeom>
          <a:solidFill>
            <a:srgbClr val="4F8FA8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0" y="1874520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B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0" y="2377440"/>
            <a:ext cx="2880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22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企業の地域貢献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72000" y="3108960"/>
            <a:ext cx="288036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5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週末に閉鎖していた社員食堂を開放。企業と地域住民の新しい接点に。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046720" y="1600200"/>
            <a:ext cx="3429000" cy="3931920"/>
          </a:xfrm>
          <a:prstGeom prst="roundRect">
            <a:avLst>
              <a:gd name="adj" fmla="val 3200"/>
            </a:avLst>
          </a:prstGeom>
          <a:solidFill>
            <a:srgbClr val="FFF8EE"/>
          </a:solidFill>
          <a:ln/>
        </p:spPr>
      </p:sp>
      <p:sp>
        <p:nvSpPr>
          <p:cNvPr id="15" name="Shape 13"/>
          <p:cNvSpPr/>
          <p:nvPr/>
        </p:nvSpPr>
        <p:spPr>
          <a:xfrm>
            <a:off x="8321040" y="1874520"/>
            <a:ext cx="1051560" cy="365760"/>
          </a:xfrm>
          <a:prstGeom prst="roundRect">
            <a:avLst>
              <a:gd name="adj" fmla="val 50000"/>
            </a:avLst>
          </a:prstGeom>
          <a:solidFill>
            <a:srgbClr val="9C7BB0"/>
          </a:solidFill>
          <a:ln/>
        </p:spPr>
      </p:sp>
      <p:sp>
        <p:nvSpPr>
          <p:cNvPr id="16" name="Text 14"/>
          <p:cNvSpPr/>
          <p:nvPr/>
        </p:nvSpPr>
        <p:spPr>
          <a:xfrm>
            <a:off x="8321040" y="1874520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C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321040" y="2377440"/>
            <a:ext cx="2880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22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空き家の再生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321040" y="3108960"/>
            <a:ext cx="288036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5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相続したまま放置されていた実家のキッチンを提供。地域の交流拠点として活用。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" y="580644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982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※上記は今後実現を目指す活用イメージであり、現時点の実例ではありません。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15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B22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双方向のメリット：探す手間を省き、資産価値を高める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212080" cy="448056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12700">
            <a:solidFill>
              <a:srgbClr val="EEE3D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508760"/>
            <a:ext cx="5212080" cy="91440"/>
          </a:xfrm>
          <a:prstGeom prst="rect">
            <a:avLst/>
          </a:prstGeom>
          <a:solidFill>
            <a:srgbClr val="C15A2C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78308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B22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活動者（主催者）のメリット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868680" y="2423160"/>
            <a:ext cx="502920" cy="502920"/>
          </a:xfrm>
          <a:prstGeom prst="ellipse">
            <a:avLst/>
          </a:prstGeom>
          <a:solidFill>
            <a:srgbClr val="FBE6D3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24231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⏱️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508760" y="240487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B22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時短と効率化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1508760" y="2770632"/>
            <a:ext cx="39319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5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候補地の洗い出しから問い合わせまでの時間を短縮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68680" y="3566160"/>
            <a:ext cx="502920" cy="502920"/>
          </a:xfrm>
          <a:prstGeom prst="ellipse">
            <a:avLst/>
          </a:prstGeom>
          <a:solidFill>
            <a:srgbClr val="FBE6D3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35661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📋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508760" y="354787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B22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安心の事前情報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1508760" y="3913632"/>
            <a:ext cx="39319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5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設備・利用条件が事前に分かり、現地確認の手間が省ける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68680" y="4709160"/>
            <a:ext cx="502920" cy="502920"/>
          </a:xfrm>
          <a:prstGeom prst="ellipse">
            <a:avLst/>
          </a:prstGeom>
          <a:solidFill>
            <a:srgbClr val="FBE6D3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47091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🎯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08760" y="469087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B22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活動への集中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508760" y="5056632"/>
            <a:ext cx="39319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5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場所探しに疲弊せず、こどもとの関わりにリソースを割ける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172200" y="1508760"/>
            <a:ext cx="5212080" cy="448056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12700">
            <a:solidFill>
              <a:srgbClr val="EEE3D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72200" y="1508760"/>
            <a:ext cx="5212080" cy="91440"/>
          </a:xfrm>
          <a:prstGeom prst="rect">
            <a:avLst/>
          </a:prstGeom>
          <a:solidFill>
            <a:srgbClr val="6B8F71"/>
          </a:solidFill>
          <a:ln/>
        </p:spPr>
      </p:sp>
      <p:sp>
        <p:nvSpPr>
          <p:cNvPr id="21" name="Text 19"/>
          <p:cNvSpPr/>
          <p:nvPr/>
        </p:nvSpPr>
        <p:spPr>
          <a:xfrm>
            <a:off x="6492240" y="178308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B22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場所提供者（オーナー）のメリット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6492240" y="2423160"/>
            <a:ext cx="502920" cy="502920"/>
          </a:xfrm>
          <a:prstGeom prst="ellipse">
            <a:avLst/>
          </a:prstGeom>
          <a:solidFill>
            <a:srgbClr val="E4EBE2"/>
          </a:solidFill>
          <a:ln/>
        </p:spPr>
      </p:sp>
      <p:sp>
        <p:nvSpPr>
          <p:cNvPr id="23" name="Text 21"/>
          <p:cNvSpPr/>
          <p:nvPr/>
        </p:nvSpPr>
        <p:spPr>
          <a:xfrm>
            <a:off x="6492240" y="24231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🏢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7132320" y="240487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B22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資産の有効活用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7132320" y="2770632"/>
            <a:ext cx="39319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5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夜間営業のみの店舗・休日の社食など、空き時間を社会貢献に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492240" y="3566160"/>
            <a:ext cx="502920" cy="502920"/>
          </a:xfrm>
          <a:prstGeom prst="ellipse">
            <a:avLst/>
          </a:prstGeom>
          <a:solidFill>
            <a:srgbClr val="E4EBE2"/>
          </a:solidFill>
          <a:ln/>
        </p:spPr>
      </p:sp>
      <p:sp>
        <p:nvSpPr>
          <p:cNvPr id="27" name="Text 25"/>
          <p:cNvSpPr/>
          <p:nvPr/>
        </p:nvSpPr>
        <p:spPr>
          <a:xfrm>
            <a:off x="6492240" y="35661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🤝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7132320" y="354787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B22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地域とのつながり</a:t>
            </a:r>
            <a:endParaRPr lang="en-US" sz="1450" dirty="0"/>
          </a:p>
        </p:txBody>
      </p:sp>
      <p:sp>
        <p:nvSpPr>
          <p:cNvPr id="29" name="Text 27"/>
          <p:cNvSpPr/>
          <p:nvPr/>
        </p:nvSpPr>
        <p:spPr>
          <a:xfrm>
            <a:off x="7132320" y="3913632"/>
            <a:ext cx="39319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5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登録フォームへの入力だけで、地域支援の意思表示ができる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492240" y="4709160"/>
            <a:ext cx="502920" cy="502920"/>
          </a:xfrm>
          <a:prstGeom prst="ellipse">
            <a:avLst/>
          </a:prstGeom>
          <a:solidFill>
            <a:srgbClr val="E4EBE2"/>
          </a:solidFill>
          <a:ln/>
        </p:spPr>
      </p:sp>
      <p:sp>
        <p:nvSpPr>
          <p:cNvPr id="31" name="Text 29"/>
          <p:cNvSpPr/>
          <p:nvPr/>
        </p:nvSpPr>
        <p:spPr>
          <a:xfrm>
            <a:off x="6492240" y="47091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📣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7132320" y="469087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B22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社会貢献の可視化</a:t>
            </a:r>
            <a:endParaRPr lang="en-US" sz="1450" dirty="0"/>
          </a:p>
        </p:txBody>
      </p:sp>
      <p:sp>
        <p:nvSpPr>
          <p:cNvPr id="33" name="Text 31"/>
          <p:cNvSpPr/>
          <p:nvPr/>
        </p:nvSpPr>
        <p:spPr>
          <a:xfrm>
            <a:off x="7132320" y="5056632"/>
            <a:ext cx="39319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5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CSR活動として、地域とのつながりを対外的に示せる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B1D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D8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今後の展望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DD8A4E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7830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1D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51560" y="1737360"/>
            <a:ext cx="10424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E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埼玉県データの出典・ライセンス確認後、地図へ復活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441448"/>
            <a:ext cx="292608" cy="292608"/>
          </a:xfrm>
          <a:prstGeom prst="ellipse">
            <a:avLst/>
          </a:prstGeom>
          <a:solidFill>
            <a:srgbClr val="DD8A4E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4414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1D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51560" y="2395728"/>
            <a:ext cx="10424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E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施設の設備情報（炊事場・冷蔵庫の有無等）を提供者自身が登録できる仕組みの拡充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3099816"/>
            <a:ext cx="292608" cy="292608"/>
          </a:xfrm>
          <a:prstGeom prst="ellipse">
            <a:avLst/>
          </a:prstGeom>
          <a:solidFill>
            <a:srgbClr val="DD8A4E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30998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1D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051560" y="3054096"/>
            <a:ext cx="10424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E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むすびえの二次利用可データを活用したデータ再投入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3758184"/>
            <a:ext cx="292608" cy="292608"/>
          </a:xfrm>
          <a:prstGeom prst="ellipse">
            <a:avLst/>
          </a:prstGeom>
          <a:solidFill>
            <a:srgbClr val="DD8A4E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375818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1D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51560" y="3712464"/>
            <a:ext cx="10424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E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現在地周辺のこども食堂を探す機能・PWA化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48640" y="4416552"/>
            <a:ext cx="292608" cy="292608"/>
          </a:xfrm>
          <a:prstGeom prst="ellipse">
            <a:avLst/>
          </a:prstGeom>
          <a:solidFill>
            <a:srgbClr val="DD8A4E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1D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051560" y="4370832"/>
            <a:ext cx="10424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E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ボランティア参加や食堂利用でポイントが貯まる仕組みの検討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548640" y="626364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9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キッチン・バトン　https://kitchen-baton.vercel.app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2026-08-31T07:15:15Z</dcterms:created>
  <dcterms:modified xsi:type="dcterms:W3CDTF">2026-08-31T07:15:15Z</dcterms:modified>
</cp:coreProperties>
</file>